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834" r:id="rId3"/>
    <p:sldId id="730" r:id="rId4"/>
    <p:sldId id="731" r:id="rId5"/>
    <p:sldId id="722" r:id="rId6"/>
    <p:sldId id="836" r:id="rId7"/>
    <p:sldId id="835" r:id="rId8"/>
    <p:sldId id="8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9696"/>
    <a:srgbClr val="009999"/>
    <a:srgbClr val="0099CC"/>
    <a:srgbClr val="66FF66"/>
    <a:srgbClr val="33CC33"/>
    <a:srgbClr val="BEDCAA"/>
    <a:srgbClr val="A0DCAA"/>
    <a:srgbClr val="8CDCAA"/>
    <a:srgbClr val="E4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310" autoAdjust="0"/>
  </p:normalViewPr>
  <p:slideViewPr>
    <p:cSldViewPr snapToGrid="0">
      <p:cViewPr varScale="1">
        <p:scale>
          <a:sx n="67" d="100"/>
          <a:sy n="67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1ACB0-E100-4301-982E-1DDADD18AFE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76661-92A3-4F5B-AFF4-D909A43C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7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62D-CFAD-43F9-9EFD-258D9215B0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05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6001-5B16-0A17-8E8A-7E917B4C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22DA3-736C-60FE-22E7-F48966569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F656D-449E-F9A5-2642-C9339EEA7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00768-8776-F8CB-C42F-12303E9F8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08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7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69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615B-F3BC-55EC-6D12-D7C8CA6C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BCCE6-469B-134D-D2D0-A24B9B9EE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82709-D637-53E0-26FF-092C2019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2164C-861F-3C99-7F42-0B5077D06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00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09F6-A2A8-92F1-0CFF-0D44C168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4769C-CBAF-248D-F9A2-1ACE139C2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B7850-D298-B32A-993F-9CEFBF146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A0428-B8CF-5BFB-69BD-1912BC62C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6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5138-18E3-388E-CD90-D74A89BC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316FF-8555-0792-6472-A870D83C8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5CD4E-A4E1-4294-DBE7-A25FCD498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859CD-E2B8-3211-E537-A1B6ED72A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0298-53E0-42DE-9FE9-005CC0E178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28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58FB-253A-43E5-B439-0399AEBC5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68C2D-D29A-4E6E-B97A-E75A25981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4450-5E28-4D92-90F4-F59EA761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B075B-0999-4703-949F-3D6CDB0F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699FB-770C-4AA5-95DD-166B0BA8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9815-8E6E-469F-9D9E-824725AB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3BF6-FB4E-42C3-98FD-B84A261CC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A06CA-9259-4AB9-9E0E-6C88A8C1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19693-8837-49EE-AA69-6A2A70A7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E8A9-DE3E-401A-AC5A-C1B19F3A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2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901C-7586-4788-9ADB-42329775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3F893-6179-437C-8860-FA0FB1FD8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F336B-F47A-4514-905E-7498404A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DF25B-7E50-47ED-8548-9E01D4F6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D17F-8378-4F1F-854A-FDC1CAA3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5276-1A15-4EFD-8C09-C43FD299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FCAEA-E4A8-40F5-993C-1BD810F1B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7C0D0-84CC-470A-AB45-EB1EB47DC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37103-1FFC-433E-9FC2-65AD6348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41A7E-7DE6-4F0F-8996-C257F04F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0CB99-4192-4EB7-B542-174EC730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4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2C18-374D-425A-9C8C-B5B04A8E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B4AAD-EE0E-4D71-80E9-A3486F698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3964-771C-43F4-9860-72FCB11F3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22BCB-8440-4733-BF88-C65E3E630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F19F1-4FF1-4A3B-9327-C60A3CA47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E120B-247C-4047-B1A9-BD3A7AA4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0C6FE-0530-4C49-AD6F-275070DA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202E1-3FE7-46AA-988A-E42D121E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3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4A11-E51D-4956-8692-41F6A9F5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C7F4F-106A-46BE-99FC-ABF6313AF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14046-098E-4920-8A34-D927E14D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E292-10EE-45F1-95F9-830533D8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8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9BFEF-DC5B-4B98-8703-10660A8A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C7DB9-348D-41F9-8339-C0D7FAD1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17F72-E6A1-49C3-BB98-4C2393E7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9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ED86-89E0-45C9-9BEC-21C25E95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2D7D-3E65-49B6-A4CA-5A58A00EC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56949-912A-460B-BC2C-FC6AA7F96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D5D48-C7DA-4B48-8C7C-A73FB9B9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EC4B6-85FA-48D5-955F-45AA8145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2FAC9-A3ED-4B69-A78E-61D38FED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0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CEFA-8527-46DB-9ED9-B1E25BF9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C1E07-A3D6-4BA2-A866-665A99FB9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30DE3-F8E2-4EBD-8B51-FB6458490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5F60E-AB47-4D13-BCEC-3E58F07F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3A052-4E0B-47D5-AD9C-32585784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DAE65-A82A-4624-AAE2-14ADC6EE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9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D42F-B23C-4615-AEAC-411A30DD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B8729-1E85-41C7-B09E-B98150420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72B0F-29BD-4A1C-B802-08F1AA20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79E86-3B9E-4DF5-884A-5F05EE54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27150-E277-4BAC-86C5-6B5DA608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3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52750-D4F1-4117-8E9B-12A5298A3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A18B3-9403-48D5-8AD0-C4E8EB8B6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947CC-85B9-4A39-8BDE-32361008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69C2A-8D29-48CB-9B06-E2443872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C53A5-73F2-4858-9B55-6EB39846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1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79783-EA90-4BEE-9151-65710549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29D0-282F-4683-92F3-44718FD90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5527-476A-49EB-800C-A824E9EFD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F32E7-9779-4C59-891E-A7D3658E0DB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BA78-1247-4DB0-B52F-09EF5EAE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55016-5AE4-46B1-AA80-EB1A5BCC0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B2F07-47F8-49CE-9FD3-AF43AC945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2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zhao@ie.cuhk.ed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chzhao@ie.cuhk.edu.h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750A-5B7B-471E-A81C-94A72D3DB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606" y="1752600"/>
            <a:ext cx="9414787" cy="2024913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4000" dirty="0"/>
              <a:t>Final-Year Projects 2026-27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0A23B-0185-42F2-93BA-555226528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094" y="4297786"/>
            <a:ext cx="4115809" cy="189775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Changhong ZHAO </a:t>
            </a:r>
            <a:r>
              <a:rPr lang="en-US" dirty="0"/>
              <a:t>(</a:t>
            </a:r>
            <a:r>
              <a:rPr lang="zh-CN" altLang="en-US" dirty="0"/>
              <a:t>趙常宏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Associate Professor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hlinkClick r:id="rId3"/>
              </a:rPr>
              <a:t>chzhao@ie.cuhk.edu.hk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Office: SHB 806</a:t>
            </a:r>
          </a:p>
          <a:p>
            <a:pPr algn="l"/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6528D2-E92D-E7CE-0516-0AD9B2A19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889" y="222308"/>
            <a:ext cx="4161686" cy="60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34BAAA-A7BB-88FA-96D5-D03220A5C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43" y="67904"/>
            <a:ext cx="1167277" cy="91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E481E9-F37C-7F08-BB5B-D1C30E90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220" y="45738"/>
            <a:ext cx="894643" cy="89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41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118F-EA09-90F3-8341-7D673270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7132F25-84C6-07E7-E0C4-8AEC42020B85}"/>
              </a:ext>
            </a:extLst>
          </p:cNvPr>
          <p:cNvSpPr/>
          <p:nvPr/>
        </p:nvSpPr>
        <p:spPr>
          <a:xfrm>
            <a:off x="4477030" y="2479966"/>
            <a:ext cx="3212540" cy="993709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874C3-FB91-B688-CA17-1CECC8CFEB4E}"/>
              </a:ext>
            </a:extLst>
          </p:cNvPr>
          <p:cNvSpPr/>
          <p:nvPr/>
        </p:nvSpPr>
        <p:spPr>
          <a:xfrm>
            <a:off x="4971520" y="4343992"/>
            <a:ext cx="2247901" cy="69532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8C784B-AA3F-D3AF-E0DB-E5FCF95ED1E0}"/>
              </a:ext>
            </a:extLst>
          </p:cNvPr>
          <p:cNvSpPr txBox="1">
            <a:spLocks/>
          </p:cNvSpPr>
          <p:nvPr/>
        </p:nvSpPr>
        <p:spPr>
          <a:xfrm>
            <a:off x="4961044" y="4492618"/>
            <a:ext cx="2268855" cy="416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7030A0"/>
                </a:solidFill>
              </a:rPr>
              <a:t>Power systems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943C3BA-2D78-4FBC-F6F0-CC6B294F9672}"/>
              </a:ext>
            </a:extLst>
          </p:cNvPr>
          <p:cNvSpPr txBox="1">
            <a:spLocks/>
          </p:cNvSpPr>
          <p:nvPr/>
        </p:nvSpPr>
        <p:spPr>
          <a:xfrm>
            <a:off x="4683144" y="2761621"/>
            <a:ext cx="2800311" cy="438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1"/>
                </a:solidFill>
              </a:rPr>
              <a:t>Networked systems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DF2EABA9-54BA-30FB-C0FA-B90D2B2D0434}"/>
              </a:ext>
            </a:extLst>
          </p:cNvPr>
          <p:cNvSpPr/>
          <p:nvPr/>
        </p:nvSpPr>
        <p:spPr>
          <a:xfrm>
            <a:off x="5730239" y="3549514"/>
            <a:ext cx="731520" cy="734360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D4A4D328-963C-4B62-EBE7-A3D309561FE6}"/>
              </a:ext>
            </a:extLst>
          </p:cNvPr>
          <p:cNvSpPr/>
          <p:nvPr/>
        </p:nvSpPr>
        <p:spPr>
          <a:xfrm rot="6311254">
            <a:off x="3496148" y="1822430"/>
            <a:ext cx="423189" cy="1366906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244B3-34BB-32E3-9896-E521EAB4DABF}"/>
              </a:ext>
            </a:extLst>
          </p:cNvPr>
          <p:cNvSpPr/>
          <p:nvPr/>
        </p:nvSpPr>
        <p:spPr>
          <a:xfrm>
            <a:off x="744826" y="3370360"/>
            <a:ext cx="2247901" cy="69532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BFB2-692E-0DDB-2D51-95B01844BB4F}"/>
              </a:ext>
            </a:extLst>
          </p:cNvPr>
          <p:cNvSpPr txBox="1">
            <a:spLocks/>
          </p:cNvSpPr>
          <p:nvPr/>
        </p:nvSpPr>
        <p:spPr>
          <a:xfrm>
            <a:off x="734349" y="3547399"/>
            <a:ext cx="2268855" cy="302016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accent1"/>
                </a:solidFill>
              </a:rPr>
              <a:t>Transportation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52822-B152-E36C-532C-52B07F5FFB08}"/>
              </a:ext>
            </a:extLst>
          </p:cNvPr>
          <p:cNvSpPr/>
          <p:nvPr/>
        </p:nvSpPr>
        <p:spPr>
          <a:xfrm>
            <a:off x="9197436" y="3370360"/>
            <a:ext cx="2247901" cy="69532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7C9884-6C4F-6620-6E19-D4ABB4507E5A}"/>
              </a:ext>
            </a:extLst>
          </p:cNvPr>
          <p:cNvSpPr txBox="1">
            <a:spLocks/>
          </p:cNvSpPr>
          <p:nvPr/>
        </p:nvSpPr>
        <p:spPr>
          <a:xfrm>
            <a:off x="9186958" y="3560888"/>
            <a:ext cx="2268855" cy="314268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accent1"/>
                </a:solidFill>
              </a:rPr>
              <a:t>Water, heat, fuel,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D15153-E760-29AC-5515-DEABA4846DF0}"/>
              </a:ext>
            </a:extLst>
          </p:cNvPr>
          <p:cNvSpPr/>
          <p:nvPr/>
        </p:nvSpPr>
        <p:spPr>
          <a:xfrm>
            <a:off x="6461759" y="897855"/>
            <a:ext cx="2247901" cy="69532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1FB2A8-60EB-1058-2FEC-D97DD90B9C75}"/>
              </a:ext>
            </a:extLst>
          </p:cNvPr>
          <p:cNvSpPr txBox="1">
            <a:spLocks/>
          </p:cNvSpPr>
          <p:nvPr/>
        </p:nvSpPr>
        <p:spPr>
          <a:xfrm>
            <a:off x="6450367" y="1098708"/>
            <a:ext cx="2268855" cy="293617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accent1"/>
                </a:solidFill>
              </a:rPr>
              <a:t>Social networks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077148-B4B7-C50C-80C7-F030D32FB28C}"/>
              </a:ext>
            </a:extLst>
          </p:cNvPr>
          <p:cNvSpPr/>
          <p:nvPr/>
        </p:nvSpPr>
        <p:spPr>
          <a:xfrm>
            <a:off x="744826" y="1845826"/>
            <a:ext cx="2247901" cy="69532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26F2054-944C-65EC-ED79-5BD9BDBB09B3}"/>
              </a:ext>
            </a:extLst>
          </p:cNvPr>
          <p:cNvSpPr txBox="1">
            <a:spLocks/>
          </p:cNvSpPr>
          <p:nvPr/>
        </p:nvSpPr>
        <p:spPr>
          <a:xfrm>
            <a:off x="730098" y="1915313"/>
            <a:ext cx="2268855" cy="571012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accent1"/>
                </a:solidFill>
              </a:rPr>
              <a:t>Information,  communication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960F9-5BB3-3609-4C21-6679CA5C04F1}"/>
              </a:ext>
            </a:extLst>
          </p:cNvPr>
          <p:cNvSpPr/>
          <p:nvPr/>
        </p:nvSpPr>
        <p:spPr>
          <a:xfrm>
            <a:off x="3531786" y="897855"/>
            <a:ext cx="2247901" cy="69532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6C03380-CB95-4E4D-17BE-521396D006C0}"/>
              </a:ext>
            </a:extLst>
          </p:cNvPr>
          <p:cNvSpPr txBox="1">
            <a:spLocks/>
          </p:cNvSpPr>
          <p:nvPr/>
        </p:nvSpPr>
        <p:spPr>
          <a:xfrm>
            <a:off x="3511683" y="1080263"/>
            <a:ext cx="2268855" cy="331748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accent1"/>
                </a:solidFill>
              </a:rPr>
              <a:t>Logistics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419138-4706-7076-CA4A-AE2F8DE9BC7A}"/>
              </a:ext>
            </a:extLst>
          </p:cNvPr>
          <p:cNvSpPr/>
          <p:nvPr/>
        </p:nvSpPr>
        <p:spPr>
          <a:xfrm>
            <a:off x="9207912" y="1845826"/>
            <a:ext cx="2247901" cy="69532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9D935E-8EBB-4495-AA7A-170D53809354}"/>
              </a:ext>
            </a:extLst>
          </p:cNvPr>
          <p:cNvSpPr txBox="1">
            <a:spLocks/>
          </p:cNvSpPr>
          <p:nvPr/>
        </p:nvSpPr>
        <p:spPr>
          <a:xfrm>
            <a:off x="9759410" y="2052497"/>
            <a:ext cx="1144904" cy="402077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accent1"/>
                </a:solidFill>
              </a:rPr>
              <a:t>… …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6FA347C-100F-C46A-F3EE-C690C5ED87E3}"/>
              </a:ext>
            </a:extLst>
          </p:cNvPr>
          <p:cNvSpPr/>
          <p:nvPr/>
        </p:nvSpPr>
        <p:spPr>
          <a:xfrm rot="15247436">
            <a:off x="8262213" y="1786268"/>
            <a:ext cx="423189" cy="1366906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DDA05FB-4556-0CA2-AE53-CCB9B7F19A93}"/>
              </a:ext>
            </a:extLst>
          </p:cNvPr>
          <p:cNvSpPr/>
          <p:nvPr/>
        </p:nvSpPr>
        <p:spPr>
          <a:xfrm rot="12412166">
            <a:off x="6771054" y="1615216"/>
            <a:ext cx="423189" cy="799960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A5947E3-1425-9A00-4F9F-42DDCD8361CF}"/>
              </a:ext>
            </a:extLst>
          </p:cNvPr>
          <p:cNvSpPr/>
          <p:nvPr/>
        </p:nvSpPr>
        <p:spPr>
          <a:xfrm rot="8656364">
            <a:off x="4966217" y="1595637"/>
            <a:ext cx="423189" cy="844394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EE6E5927-999E-D1CC-02A9-A58E5F0AF828}"/>
              </a:ext>
            </a:extLst>
          </p:cNvPr>
          <p:cNvSpPr/>
          <p:nvPr/>
        </p:nvSpPr>
        <p:spPr>
          <a:xfrm rot="4579469">
            <a:off x="3482361" y="2715105"/>
            <a:ext cx="423189" cy="1366906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AC80DE6-A90D-ED3A-7429-3BB740C6B6E2}"/>
              </a:ext>
            </a:extLst>
          </p:cNvPr>
          <p:cNvSpPr/>
          <p:nvPr/>
        </p:nvSpPr>
        <p:spPr>
          <a:xfrm rot="16949672">
            <a:off x="8245291" y="2718223"/>
            <a:ext cx="423189" cy="1366906"/>
          </a:xfrm>
          <a:prstGeom prst="downArrow">
            <a:avLst>
              <a:gd name="adj1" fmla="val 50000"/>
              <a:gd name="adj2" fmla="val 3504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99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>
            <a:extLst>
              <a:ext uri="{FF2B5EF4-FFF2-40B4-BE49-F238E27FC236}">
                <a16:creationId xmlns:a16="http://schemas.microsoft.com/office/drawing/2014/main" id="{61B2BCD6-F1AE-469D-AFCD-9A8BFF9E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35" y="219202"/>
            <a:ext cx="7048586" cy="566928"/>
          </a:xfrm>
        </p:spPr>
        <p:txBody>
          <a:bodyPr>
            <a:noAutofit/>
          </a:bodyPr>
          <a:lstStyle/>
          <a:p>
            <a:r>
              <a:rPr lang="en-US" sz="3200"/>
              <a:t>Motivation: more energy, less emission</a:t>
            </a:r>
          </a:p>
        </p:txBody>
      </p:sp>
      <p:pic>
        <p:nvPicPr>
          <p:cNvPr id="3" name="Picture 2" descr="A graph on a screen&#10;&#10;Description automatically generated">
            <a:extLst>
              <a:ext uri="{FF2B5EF4-FFF2-40B4-BE49-F238E27FC236}">
                <a16:creationId xmlns:a16="http://schemas.microsoft.com/office/drawing/2014/main" id="{7D1E6C24-B3D7-8BCB-87D1-E2D4AC0F3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0229"/>
          <a:stretch/>
        </p:blipFill>
        <p:spPr>
          <a:xfrm>
            <a:off x="979248" y="709719"/>
            <a:ext cx="8691073" cy="604780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895A5A-A32D-F2BA-0CA5-252B0D6718AD}"/>
              </a:ext>
            </a:extLst>
          </p:cNvPr>
          <p:cNvSpPr txBox="1">
            <a:spLocks/>
          </p:cNvSpPr>
          <p:nvPr/>
        </p:nvSpPr>
        <p:spPr>
          <a:xfrm>
            <a:off x="7470050" y="1868629"/>
            <a:ext cx="1138085" cy="324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350" i="1"/>
              <a:t>(generation)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D4AE20-B8D3-6AAA-7DDA-CF8C4B03DA42}"/>
              </a:ext>
            </a:extLst>
          </p:cNvPr>
          <p:cNvSpPr txBox="1">
            <a:spLocks/>
          </p:cNvSpPr>
          <p:nvPr/>
        </p:nvSpPr>
        <p:spPr>
          <a:xfrm>
            <a:off x="8147382" y="3815697"/>
            <a:ext cx="884086" cy="324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350" i="1"/>
              <a:t>(on land)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3E5609E-72CA-F43F-94AD-F0990846BF1A}"/>
              </a:ext>
            </a:extLst>
          </p:cNvPr>
          <p:cNvSpPr/>
          <p:nvPr/>
        </p:nvSpPr>
        <p:spPr>
          <a:xfrm flipV="1">
            <a:off x="7900120" y="2206506"/>
            <a:ext cx="731520" cy="1592840"/>
          </a:xfrm>
          <a:prstGeom prst="downArrow">
            <a:avLst>
              <a:gd name="adj1" fmla="val 50000"/>
              <a:gd name="adj2" fmla="val 35047"/>
            </a:avLst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6CC2F6A-839A-D2DA-800A-8F930AD7AAB3}"/>
              </a:ext>
            </a:extLst>
          </p:cNvPr>
          <p:cNvSpPr txBox="1">
            <a:spLocks/>
          </p:cNvSpPr>
          <p:nvPr/>
        </p:nvSpPr>
        <p:spPr>
          <a:xfrm>
            <a:off x="8475865" y="2896503"/>
            <a:ext cx="1684034" cy="4347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7030A0"/>
                </a:solidFill>
              </a:rPr>
              <a:t>Electrification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CCDBA7-8D49-DF90-0E14-148A939E544E}"/>
              </a:ext>
            </a:extLst>
          </p:cNvPr>
          <p:cNvSpPr/>
          <p:nvPr/>
        </p:nvSpPr>
        <p:spPr>
          <a:xfrm>
            <a:off x="7457502" y="3801889"/>
            <a:ext cx="1684034" cy="32406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BCC07C-65F0-9A16-D088-57247197AF2F}"/>
              </a:ext>
            </a:extLst>
          </p:cNvPr>
          <p:cNvSpPr/>
          <p:nvPr/>
        </p:nvSpPr>
        <p:spPr>
          <a:xfrm>
            <a:off x="7457502" y="1646918"/>
            <a:ext cx="1684034" cy="5457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91787D5-02AA-2E29-B175-F1A600BD7892}"/>
              </a:ext>
            </a:extLst>
          </p:cNvPr>
          <p:cNvSpPr/>
          <p:nvPr/>
        </p:nvSpPr>
        <p:spPr>
          <a:xfrm rot="5400000" flipV="1">
            <a:off x="9344978" y="1460410"/>
            <a:ext cx="492699" cy="899583"/>
          </a:xfrm>
          <a:prstGeom prst="downArrow">
            <a:avLst>
              <a:gd name="adj1" fmla="val 50000"/>
              <a:gd name="adj2" fmla="val 35047"/>
            </a:avLst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191F3F-0CE8-5286-6328-1812F5426887}"/>
              </a:ext>
            </a:extLst>
          </p:cNvPr>
          <p:cNvSpPr txBox="1">
            <a:spLocks/>
          </p:cNvSpPr>
          <p:nvPr/>
        </p:nvSpPr>
        <p:spPr>
          <a:xfrm>
            <a:off x="10012243" y="1479476"/>
            <a:ext cx="1570157" cy="727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00B050"/>
                </a:solidFill>
              </a:rPr>
              <a:t>Renewable generation</a:t>
            </a:r>
          </a:p>
        </p:txBody>
      </p:sp>
    </p:spTree>
    <p:extLst>
      <p:ext uri="{BB962C8B-B14F-4D97-AF65-F5344CB8AC3E}">
        <p14:creationId xmlns:p14="http://schemas.microsoft.com/office/powerpoint/2010/main" val="82232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>
            <a:extLst>
              <a:ext uri="{FF2B5EF4-FFF2-40B4-BE49-F238E27FC236}">
                <a16:creationId xmlns:a16="http://schemas.microsoft.com/office/drawing/2014/main" id="{61B2BCD6-F1AE-469D-AFCD-9A8BFF9E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01" y="250732"/>
            <a:ext cx="4541899" cy="566928"/>
          </a:xfrm>
        </p:spPr>
        <p:txBody>
          <a:bodyPr>
            <a:noAutofit/>
          </a:bodyPr>
          <a:lstStyle/>
          <a:p>
            <a:r>
              <a:rPr lang="en-US" sz="3200"/>
              <a:t>Trends in power systems </a:t>
            </a:r>
          </a:p>
        </p:txBody>
      </p:sp>
      <p:pic>
        <p:nvPicPr>
          <p:cNvPr id="11" name="Picture 10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88E5B318-21D5-3B06-51AF-CBA7047D9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1756554"/>
            <a:ext cx="5101945" cy="425162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800300-EE1D-49BD-95B5-B8A615EC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206" y="1320542"/>
            <a:ext cx="3879181" cy="425267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/>
              <a:t>Global electric car stock</a:t>
            </a:r>
            <a:endParaRPr lang="en-US" sz="160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9EA07DC-39E5-0997-13FE-AAF021E9165C}"/>
              </a:ext>
            </a:extLst>
          </p:cNvPr>
          <p:cNvSpPr txBox="1">
            <a:spLocks/>
          </p:cNvSpPr>
          <p:nvPr/>
        </p:nvSpPr>
        <p:spPr>
          <a:xfrm>
            <a:off x="2529591" y="2037101"/>
            <a:ext cx="1326481" cy="2438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500"/>
              <a:t>Other PHEV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sz="1500">
                <a:solidFill>
                  <a:schemeClr val="bg1">
                    <a:lumMod val="65000"/>
                  </a:schemeClr>
                </a:solidFill>
              </a:rPr>
              <a:t>Other BEV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500">
                <a:solidFill>
                  <a:srgbClr val="7030A0"/>
                </a:solidFill>
              </a:rPr>
              <a:t>US PHEV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sz="1500">
                <a:solidFill>
                  <a:schemeClr val="accent2">
                    <a:lumMod val="75000"/>
                  </a:schemeClr>
                </a:solidFill>
              </a:rPr>
              <a:t>US BEV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500">
                <a:solidFill>
                  <a:srgbClr val="FFC000"/>
                </a:solidFill>
              </a:rPr>
              <a:t>Europe PHEV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>
                <a:solidFill>
                  <a:srgbClr val="009999"/>
                </a:solidFill>
              </a:rPr>
              <a:t>Europe BEV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500">
                <a:solidFill>
                  <a:srgbClr val="0070C0"/>
                </a:solidFill>
              </a:rPr>
              <a:t>China PHEV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1500">
                <a:solidFill>
                  <a:srgbClr val="00B0F0"/>
                </a:solidFill>
              </a:rPr>
              <a:t>China BEV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endParaRPr lang="en-US" sz="1500"/>
          </a:p>
        </p:txBody>
      </p:sp>
      <p:pic>
        <p:nvPicPr>
          <p:cNvPr id="14" name="Picture 13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D8ABDB03-1A1B-582E-16FF-621FED828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4"/>
          <a:stretch/>
        </p:blipFill>
        <p:spPr>
          <a:xfrm>
            <a:off x="5567341" y="158970"/>
            <a:ext cx="4031680" cy="320907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2517629-4F8F-05DA-15C4-548869A8C7C4}"/>
              </a:ext>
            </a:extLst>
          </p:cNvPr>
          <p:cNvSpPr txBox="1">
            <a:spLocks/>
          </p:cNvSpPr>
          <p:nvPr/>
        </p:nvSpPr>
        <p:spPr>
          <a:xfrm>
            <a:off x="108284" y="6432733"/>
            <a:ext cx="3318675" cy="309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300"/>
              <a:t>All figures in this page are from iea.org</a:t>
            </a:r>
          </a:p>
        </p:txBody>
      </p:sp>
      <p:pic>
        <p:nvPicPr>
          <p:cNvPr id="16" name="Picture 1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53BE147-A687-A9B6-9333-2007DB0E5D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4"/>
          <a:stretch/>
        </p:blipFill>
        <p:spPr>
          <a:xfrm>
            <a:off x="5625215" y="3533246"/>
            <a:ext cx="4031680" cy="3209070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D564BCE-0C5C-4FA8-8E9D-25BF0E179719}"/>
              </a:ext>
            </a:extLst>
          </p:cNvPr>
          <p:cNvSpPr txBox="1">
            <a:spLocks/>
          </p:cNvSpPr>
          <p:nvPr/>
        </p:nvSpPr>
        <p:spPr>
          <a:xfrm>
            <a:off x="415925" y="1717138"/>
            <a:ext cx="985374" cy="319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/>
              <a:t>(millions)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783284C-7807-C904-EE1E-4E3A862AEDE9}"/>
              </a:ext>
            </a:extLst>
          </p:cNvPr>
          <p:cNvSpPr txBox="1">
            <a:spLocks/>
          </p:cNvSpPr>
          <p:nvPr/>
        </p:nvSpPr>
        <p:spPr>
          <a:xfrm>
            <a:off x="5736099" y="3465686"/>
            <a:ext cx="536575" cy="281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/>
              <a:t>(%)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EB38190-A19B-9A18-2014-60CCF65DF407}"/>
              </a:ext>
            </a:extLst>
          </p:cNvPr>
          <p:cNvSpPr txBox="1">
            <a:spLocks/>
          </p:cNvSpPr>
          <p:nvPr/>
        </p:nvSpPr>
        <p:spPr>
          <a:xfrm>
            <a:off x="5875002" y="99454"/>
            <a:ext cx="653857" cy="281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/>
              <a:t>(TWh)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A46D58-F69C-219A-D38E-18F5D8E6D08B}"/>
              </a:ext>
            </a:extLst>
          </p:cNvPr>
          <p:cNvSpPr txBox="1"/>
          <p:nvPr/>
        </p:nvSpPr>
        <p:spPr>
          <a:xfrm>
            <a:off x="9422403" y="250732"/>
            <a:ext cx="2612497" cy="65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2000"/>
              <a:t>Global electricity generation by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E72547-7D99-C765-147C-1C5BF0114307}"/>
              </a:ext>
            </a:extLst>
          </p:cNvPr>
          <p:cNvSpPr txBox="1"/>
          <p:nvPr/>
        </p:nvSpPr>
        <p:spPr>
          <a:xfrm>
            <a:off x="9385269" y="3540522"/>
            <a:ext cx="277063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/>
              <a:t>Share of renewable generation by technology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82C459E-9BEE-955D-C124-B4828EBDA13D}"/>
              </a:ext>
            </a:extLst>
          </p:cNvPr>
          <p:cNvSpPr txBox="1">
            <a:spLocks/>
          </p:cNvSpPr>
          <p:nvPr/>
        </p:nvSpPr>
        <p:spPr>
          <a:xfrm>
            <a:off x="9745487" y="1112489"/>
            <a:ext cx="1447446" cy="1533661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</a:rPr>
              <a:t>Renewables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rgbClr val="00B0F0"/>
                </a:solidFill>
              </a:rPr>
              <a:t>Coal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chemeClr val="accent1"/>
                </a:solidFill>
              </a:rPr>
              <a:t>Gas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rgbClr val="00B050"/>
                </a:solidFill>
              </a:rPr>
              <a:t>Nuclear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rgbClr val="009999"/>
                </a:solidFill>
              </a:rPr>
              <a:t>Oil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4FD69B9-3BD9-9F2B-AC39-8E45BC51A57F}"/>
              </a:ext>
            </a:extLst>
          </p:cNvPr>
          <p:cNvSpPr txBox="1">
            <a:spLocks/>
          </p:cNvSpPr>
          <p:nvPr/>
        </p:nvSpPr>
        <p:spPr>
          <a:xfrm>
            <a:off x="9745487" y="4443720"/>
            <a:ext cx="2195688" cy="1989013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chemeClr val="accent4">
                    <a:lumMod val="75000"/>
                  </a:schemeClr>
                </a:solidFill>
              </a:rPr>
              <a:t>All renewables: 42%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 b="1">
                <a:solidFill>
                  <a:srgbClr val="00B050"/>
                </a:solidFill>
              </a:rPr>
              <a:t>Variable renewables </a:t>
            </a:r>
            <a:r>
              <a:rPr lang="en-US" sz="1500" b="1">
                <a:solidFill>
                  <a:schemeClr val="accent1"/>
                </a:solidFill>
              </a:rPr>
              <a:t>(wind, </a:t>
            </a:r>
            <a:r>
              <a:rPr lang="en-US" sz="1500" b="1">
                <a:solidFill>
                  <a:srgbClr val="00B0F0"/>
                </a:solidFill>
              </a:rPr>
              <a:t>solar PV): </a:t>
            </a:r>
            <a:r>
              <a:rPr lang="en-US" sz="1500" b="1">
                <a:solidFill>
                  <a:srgbClr val="00B050"/>
                </a:solidFill>
              </a:rPr>
              <a:t>25%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rgbClr val="009999"/>
                </a:solidFill>
              </a:rPr>
              <a:t>Hydropower: 14%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en-US" sz="150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</a:rPr>
              <a:t>Other renewables (e.g., biomass): 3%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65B2B5-5ACF-8BA5-B86C-D0F7F483D8A9}"/>
              </a:ext>
            </a:extLst>
          </p:cNvPr>
          <p:cNvSpPr/>
          <p:nvPr/>
        </p:nvSpPr>
        <p:spPr>
          <a:xfrm>
            <a:off x="8449733" y="4893733"/>
            <a:ext cx="972670" cy="355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21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BC18ABD9-9468-4213-A0DE-6C9A6041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8" y="290172"/>
            <a:ext cx="7582346" cy="566928"/>
          </a:xfrm>
        </p:spPr>
        <p:txBody>
          <a:bodyPr>
            <a:noAutofit/>
          </a:bodyPr>
          <a:lstStyle/>
          <a:p>
            <a:r>
              <a:rPr lang="en-US" sz="3200"/>
              <a:t>Solar power: big potential, big risk</a:t>
            </a:r>
          </a:p>
        </p:txBody>
      </p:sp>
      <p:pic>
        <p:nvPicPr>
          <p:cNvPr id="11" name="Picture 8" descr="http://www.solarjourneyusa.com/Pictures/apr4graph1.pn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725"/>
          <a:stretch/>
        </p:blipFill>
        <p:spPr bwMode="auto">
          <a:xfrm>
            <a:off x="7705091" y="296522"/>
            <a:ext cx="4252732" cy="2571299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86D4DFE-7288-4F38-A13F-DE73B8C6C53F}"/>
              </a:ext>
            </a:extLst>
          </p:cNvPr>
          <p:cNvSpPr txBox="1"/>
          <p:nvPr/>
        </p:nvSpPr>
        <p:spPr>
          <a:xfrm>
            <a:off x="7685157" y="2888736"/>
            <a:ext cx="4292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0C14"/>
                </a:solidFill>
                <a:cs typeface="Arial" panose="020B0604020202020204" pitchFamily="34" charset="0"/>
              </a:rPr>
              <a:t>Solar PV output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34F6DA-D9D5-49A7-AAC0-C2C2BFDBE20B}"/>
              </a:ext>
            </a:extLst>
          </p:cNvPr>
          <p:cNvGrpSpPr/>
          <p:nvPr/>
        </p:nvGrpSpPr>
        <p:grpSpPr>
          <a:xfrm>
            <a:off x="8262827" y="3389417"/>
            <a:ext cx="3137260" cy="2637933"/>
            <a:chOff x="5743678" y="-58913"/>
            <a:chExt cx="3956051" cy="332640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4"/>
            <a:srcRect l="47975" t="15319" r="3535" b="26340"/>
            <a:stretch/>
          </p:blipFill>
          <p:spPr>
            <a:xfrm>
              <a:off x="5812367" y="-20528"/>
              <a:ext cx="3887362" cy="32880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7" name="Rectangle 16"/>
            <p:cNvSpPr/>
            <p:nvPr/>
          </p:nvSpPr>
          <p:spPr>
            <a:xfrm>
              <a:off x="5812367" y="-14853"/>
              <a:ext cx="298503" cy="3282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6"/>
            <p:cNvSpPr txBox="1"/>
            <p:nvPr/>
          </p:nvSpPr>
          <p:spPr>
            <a:xfrm>
              <a:off x="5753955" y="1624627"/>
              <a:ext cx="474757" cy="214303"/>
            </a:xfrm>
            <a:prstGeom prst="rect">
              <a:avLst/>
            </a:prstGeom>
            <a:noFill/>
          </p:spPr>
          <p:txBody>
            <a:bodyPr wrap="square" lIns="91432" tIns="45712" rIns="91432" bIns="45712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097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195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292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394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5494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2591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199689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6785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en-US" sz="800">
                  <a:latin typeface="+mn-lt"/>
                </a:rPr>
                <a:t>240</a:t>
              </a:r>
            </a:p>
          </p:txBody>
        </p:sp>
        <p:sp>
          <p:nvSpPr>
            <p:cNvPr id="19" name="TextBox 6"/>
            <p:cNvSpPr txBox="1"/>
            <p:nvPr/>
          </p:nvSpPr>
          <p:spPr>
            <a:xfrm>
              <a:off x="5753955" y="492007"/>
              <a:ext cx="470790" cy="214303"/>
            </a:xfrm>
            <a:prstGeom prst="rect">
              <a:avLst/>
            </a:prstGeom>
            <a:noFill/>
          </p:spPr>
          <p:txBody>
            <a:bodyPr wrap="square" lIns="91432" tIns="45712" rIns="91432" bIns="45712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097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195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292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394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5494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2591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199689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6785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en-US" sz="800">
                  <a:latin typeface="+mn-lt"/>
                </a:rPr>
                <a:t>252</a:t>
              </a:r>
            </a:p>
          </p:txBody>
        </p:sp>
        <p:sp>
          <p:nvSpPr>
            <p:cNvPr id="20" name="TextBox 6"/>
            <p:cNvSpPr txBox="1"/>
            <p:nvPr/>
          </p:nvSpPr>
          <p:spPr>
            <a:xfrm>
              <a:off x="5743678" y="2757247"/>
              <a:ext cx="474756" cy="214303"/>
            </a:xfrm>
            <a:prstGeom prst="rect">
              <a:avLst/>
            </a:prstGeom>
            <a:noFill/>
          </p:spPr>
          <p:txBody>
            <a:bodyPr wrap="square" lIns="91432" tIns="45712" rIns="91432" bIns="45712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097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195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292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394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5494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2591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199689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6785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en-US" sz="800">
                  <a:latin typeface="+mn-lt"/>
                </a:rPr>
                <a:t>228</a:t>
              </a:r>
            </a:p>
          </p:txBody>
        </p:sp>
        <p:sp>
          <p:nvSpPr>
            <p:cNvPr id="22" name="TextBox 6"/>
            <p:cNvSpPr txBox="1"/>
            <p:nvPr/>
          </p:nvSpPr>
          <p:spPr>
            <a:xfrm>
              <a:off x="5759177" y="-58913"/>
              <a:ext cx="954098" cy="214303"/>
            </a:xfrm>
            <a:prstGeom prst="rect">
              <a:avLst/>
            </a:prstGeom>
            <a:noFill/>
          </p:spPr>
          <p:txBody>
            <a:bodyPr wrap="square" lIns="91432" tIns="45712" rIns="91432" bIns="45712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097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195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292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394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5494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2591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199689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6785" algn="l" defTabSz="91419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en-US" sz="800">
                  <a:latin typeface="+mn-lt"/>
                </a:rPr>
                <a:t>Voltage (V)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168C4-B9BF-FE19-1819-4F42955E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73" y="1118848"/>
            <a:ext cx="6949623" cy="490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4B560D-D8BD-65A8-043B-9B61FD14D6F4}"/>
              </a:ext>
            </a:extLst>
          </p:cNvPr>
          <p:cNvSpPr/>
          <p:nvPr/>
        </p:nvSpPr>
        <p:spPr>
          <a:xfrm>
            <a:off x="2579844" y="4584700"/>
            <a:ext cx="3516156" cy="154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0C9C6-8AC5-7624-DC71-80DF72C2A6C4}"/>
              </a:ext>
            </a:extLst>
          </p:cNvPr>
          <p:cNvSpPr/>
          <p:nvPr/>
        </p:nvSpPr>
        <p:spPr>
          <a:xfrm>
            <a:off x="327326" y="5304991"/>
            <a:ext cx="2015824" cy="720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2CD95-2450-0AAA-5D29-45FC1B0D4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726" y="5118478"/>
            <a:ext cx="2158171" cy="133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p showing the location of Sichuan Province">
            <a:extLst>
              <a:ext uri="{FF2B5EF4-FFF2-40B4-BE49-F238E27FC236}">
                <a16:creationId xmlns:a16="http://schemas.microsoft.com/office/drawing/2014/main" id="{ACCF801A-C755-FA12-1CA8-5980C7873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434" y="4796319"/>
            <a:ext cx="2084762" cy="1660225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147A51-56AF-2C88-46E4-9F32CEFD7885}"/>
              </a:ext>
            </a:extLst>
          </p:cNvPr>
          <p:cNvSpPr/>
          <p:nvPr/>
        </p:nvSpPr>
        <p:spPr>
          <a:xfrm>
            <a:off x="727711" y="5095104"/>
            <a:ext cx="1120140" cy="146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536024" y="6046400"/>
            <a:ext cx="2590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0C14"/>
                </a:solidFill>
                <a:cs typeface="Arial" panose="020B0604020202020204" pitchFamily="34" charset="0"/>
              </a:rPr>
              <a:t> One-month voltages </a:t>
            </a:r>
          </a:p>
          <a:p>
            <a:pPr algn="ctr"/>
            <a:r>
              <a:rPr lang="en-US" sz="1200">
                <a:solidFill>
                  <a:srgbClr val="000C14"/>
                </a:solidFill>
                <a:cs typeface="Arial" panose="020B0604020202020204" pitchFamily="34" charset="0"/>
              </a:rPr>
              <a:t>University of Hawaii</a:t>
            </a:r>
          </a:p>
        </p:txBody>
      </p:sp>
    </p:spTree>
    <p:extLst>
      <p:ext uri="{BB962C8B-B14F-4D97-AF65-F5344CB8AC3E}">
        <p14:creationId xmlns:p14="http://schemas.microsoft.com/office/powerpoint/2010/main" val="913748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92E0B-AEFE-E0BF-94BE-E5EF6EB8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CED7E78B-5085-2DF2-E3FF-8FF59700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7" y="290172"/>
            <a:ext cx="11017887" cy="566928"/>
          </a:xfrm>
        </p:spPr>
        <p:txBody>
          <a:bodyPr>
            <a:noAutofit/>
          </a:bodyPr>
          <a:lstStyle/>
          <a:p>
            <a:r>
              <a:rPr lang="en-US" sz="3200" b="1" dirty="0"/>
              <a:t>CHZ1:</a:t>
            </a:r>
            <a:r>
              <a:rPr lang="en-US" sz="3200" dirty="0"/>
              <a:t> Power network topology optimization (1~2 students)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65866-92C3-C690-9FF8-368C49AEE518}"/>
              </a:ext>
            </a:extLst>
          </p:cNvPr>
          <p:cNvSpPr txBox="1"/>
          <p:nvPr/>
        </p:nvSpPr>
        <p:spPr>
          <a:xfrm>
            <a:off x="460187" y="930725"/>
            <a:ext cx="712171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Solve optimal topology and power flow (</a:t>
            </a:r>
            <a:r>
              <a:rPr lang="en-US" sz="2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OTPF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) problem: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85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Jointly optimize </a:t>
            </a:r>
            <a:r>
              <a:rPr lang="en-US" sz="1850" b="0" i="0" u="sng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on/offs</a:t>
            </a:r>
            <a:r>
              <a:rPr lang="en-US" sz="185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of power lines and </a:t>
            </a:r>
            <a:r>
              <a:rPr lang="en-US" sz="1850" b="0" i="0" u="sng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generations, loads, power flows,</a:t>
            </a:r>
            <a:r>
              <a:rPr lang="en-US" sz="185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for reliable, efficient operation with </a:t>
            </a:r>
            <a:r>
              <a:rPr lang="en-US" sz="1850" b="0" i="1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high renewables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85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Develop an OTPF solution algorithm with improved </a:t>
            </a:r>
            <a:r>
              <a:rPr lang="en-US" sz="1850" b="0" i="0" u="sng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computation efficiency</a:t>
            </a:r>
            <a:r>
              <a:rPr lang="en-US" sz="185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and </a:t>
            </a:r>
            <a:r>
              <a:rPr lang="en-US" sz="1850" b="0" i="0" u="sng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solution quality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BCDED-1335-56C1-817C-7C1D3D1EE796}"/>
              </a:ext>
            </a:extLst>
          </p:cNvPr>
          <p:cNvSpPr txBox="1"/>
          <p:nvPr/>
        </p:nvSpPr>
        <p:spPr>
          <a:xfrm>
            <a:off x="4632418" y="4197948"/>
            <a:ext cx="715029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/>
              <a:t>Tasks: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chemeClr val="accent1"/>
                </a:solidFill>
              </a:rPr>
              <a:t>(4998) </a:t>
            </a:r>
            <a:r>
              <a:rPr lang="en-US" sz="1850" dirty="0"/>
              <a:t>Broadly study existing OTPF models and solution algorithms in the literature.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chemeClr val="accent1"/>
                </a:solidFill>
              </a:rPr>
              <a:t>(4998/4999) </a:t>
            </a:r>
            <a:r>
              <a:rPr lang="en-US" sz="1850" dirty="0"/>
              <a:t>Develop computer (e.g., MATLAB) simulation of power network testcases to benchmark and compare different algorithms.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chemeClr val="accent1"/>
                </a:solidFill>
              </a:rPr>
              <a:t>(4999) </a:t>
            </a:r>
            <a:r>
              <a:rPr lang="en-US" sz="1850" dirty="0"/>
              <a:t>Develop a novel algorithm and demonstrate its performance on your simulation platform.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14E371-3CEF-4807-5BB0-4F30A9554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4" y="3103188"/>
            <a:ext cx="3138237" cy="31985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8B3C38-D92F-8623-95EF-931F8E6D869D}"/>
              </a:ext>
            </a:extLst>
          </p:cNvPr>
          <p:cNvSpPr txBox="1"/>
          <p:nvPr/>
        </p:nvSpPr>
        <p:spPr>
          <a:xfrm>
            <a:off x="4279709" y="2718564"/>
            <a:ext cx="3495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Our recent method (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left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) based on </a:t>
            </a: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successive optimization improves </a:t>
            </a: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voltage stability over time (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right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).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501FD8-0A38-8E99-A7FD-987E6F5C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980" y="2046675"/>
            <a:ext cx="4280407" cy="192659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39A1C48-0AF0-0D59-91A5-805FF774B672}"/>
              </a:ext>
            </a:extLst>
          </p:cNvPr>
          <p:cNvSpPr txBox="1"/>
          <p:nvPr/>
        </p:nvSpPr>
        <p:spPr>
          <a:xfrm>
            <a:off x="8207564" y="1446511"/>
            <a:ext cx="34956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i="1" dirty="0">
                <a:solidFill>
                  <a:schemeClr val="accent6"/>
                </a:solidFill>
              </a:rPr>
              <a:t>Proposed method </a:t>
            </a:r>
            <a:r>
              <a:rPr lang="en-US" sz="1650" i="1" dirty="0">
                <a:solidFill>
                  <a:schemeClr val="bg1">
                    <a:lumMod val="50000"/>
                  </a:schemeClr>
                </a:solidFill>
              </a:rPr>
              <a:t>lowers </a:t>
            </a:r>
            <a:r>
              <a:rPr lang="en-US" sz="1650" b="1" i="1" dirty="0">
                <a:solidFill>
                  <a:schemeClr val="bg1">
                    <a:lumMod val="50000"/>
                  </a:schemeClr>
                </a:solidFill>
              </a:rPr>
              <a:t>power loss </a:t>
            </a:r>
            <a:r>
              <a:rPr lang="en-US" sz="1650" i="1" dirty="0">
                <a:solidFill>
                  <a:schemeClr val="bg1">
                    <a:lumMod val="50000"/>
                  </a:schemeClr>
                </a:solidFill>
              </a:rPr>
              <a:t>than</a:t>
            </a:r>
            <a:r>
              <a:rPr lang="en-US" sz="1650" i="1" dirty="0">
                <a:solidFill>
                  <a:schemeClr val="accent1"/>
                </a:solidFill>
              </a:rPr>
              <a:t> </a:t>
            </a:r>
            <a:r>
              <a:rPr lang="en-US" sz="1650" i="1" dirty="0">
                <a:solidFill>
                  <a:srgbClr val="FF0000"/>
                </a:solidFill>
              </a:rPr>
              <a:t>Method 3</a:t>
            </a:r>
          </a:p>
        </p:txBody>
      </p:sp>
    </p:spTree>
    <p:extLst>
      <p:ext uri="{BB962C8B-B14F-4D97-AF65-F5344CB8AC3E}">
        <p14:creationId xmlns:p14="http://schemas.microsoft.com/office/powerpoint/2010/main" val="319588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64EE-A567-56FB-4B65-76E6DACB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BFBE396-81E3-0743-4C4C-436CF3AD7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69" y="2540740"/>
            <a:ext cx="3286125" cy="1776520"/>
          </a:xfrm>
          <a:prstGeom prst="rect">
            <a:avLst/>
          </a:prstGeom>
        </p:spPr>
      </p:pic>
      <p:sp>
        <p:nvSpPr>
          <p:cNvPr id="26" name="Title 2">
            <a:extLst>
              <a:ext uri="{FF2B5EF4-FFF2-40B4-BE49-F238E27FC236}">
                <a16:creationId xmlns:a16="http://schemas.microsoft.com/office/drawing/2014/main" id="{508D27E3-FDCB-07EB-2078-400F81709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7" y="290172"/>
            <a:ext cx="11151238" cy="566928"/>
          </a:xfrm>
        </p:spPr>
        <p:txBody>
          <a:bodyPr>
            <a:noAutofit/>
          </a:bodyPr>
          <a:lstStyle/>
          <a:p>
            <a:r>
              <a:rPr lang="en-US" sz="3200" b="1" dirty="0"/>
              <a:t>CHZ2:</a:t>
            </a:r>
            <a:r>
              <a:rPr lang="en-US" sz="3200" dirty="0"/>
              <a:t> Improving AC power flow solution (1~2 students)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B793F-DA49-060A-32DF-A6FBF5C89EC2}"/>
              </a:ext>
            </a:extLst>
          </p:cNvPr>
          <p:cNvSpPr txBox="1"/>
          <p:nvPr/>
        </p:nvSpPr>
        <p:spPr>
          <a:xfrm>
            <a:off x="460188" y="930725"/>
            <a:ext cx="6712137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Solve the fundamental </a:t>
            </a: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</a:rPr>
              <a:t>AC power flow </a:t>
            </a:r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problem​: 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rgbClr val="000000"/>
                </a:solidFill>
                <a:latin typeface="Aptos" panose="020B0004020202020204" pitchFamily="34" charset="0"/>
              </a:rPr>
              <a:t>Given some variables in nonlinear AC power flow equations, solve for other variables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rgbClr val="000000"/>
                </a:solidFill>
                <a:latin typeface="Aptos" panose="020B0004020202020204" pitchFamily="34" charset="0"/>
              </a:rPr>
              <a:t>Common methods:​ Newton-Raphson; Backward-Forward Sweep (BFS)</a:t>
            </a:r>
            <a:endParaRPr lang="en-US" sz="1850" b="0" i="0" u="sng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F74C65-0AA1-BA49-5BDC-2EEB313F2BEA}"/>
              </a:ext>
            </a:extLst>
          </p:cNvPr>
          <p:cNvSpPr txBox="1"/>
          <p:nvPr/>
        </p:nvSpPr>
        <p:spPr>
          <a:xfrm>
            <a:off x="4654739" y="4197948"/>
            <a:ext cx="735374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/>
              <a:t>Tasks: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chemeClr val="accent1"/>
                </a:solidFill>
              </a:rPr>
              <a:t>(4998) </a:t>
            </a:r>
            <a:r>
              <a:rPr lang="en-US" sz="1850" dirty="0"/>
              <a:t>Broadly study existing power flow algorithms and their convergence analyses in the literature.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chemeClr val="accent1"/>
                </a:solidFill>
              </a:rPr>
              <a:t>(4998/4999) </a:t>
            </a:r>
            <a:r>
              <a:rPr lang="en-US" sz="1850" dirty="0"/>
              <a:t>Develop computer (e.g., MATLAB) simulation of power network testcases to benchmark and compare different algorithms.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1850" dirty="0">
                <a:solidFill>
                  <a:schemeClr val="accent1"/>
                </a:solidFill>
              </a:rPr>
              <a:t>(4999) </a:t>
            </a:r>
            <a:r>
              <a:rPr lang="en-US" sz="1850" dirty="0"/>
              <a:t>Improve the convergence rate of the existing BFS algorithm and demonstrate the improvement on your simulation platform.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128DF4-6C77-DB3E-1DF3-6A6B3C535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05" y="4642270"/>
            <a:ext cx="3808679" cy="19255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5DE8E9E-CD56-8449-1772-7C37B65DA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650" y="818164"/>
            <a:ext cx="3994247" cy="29993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CF05D9-01E8-A569-133E-08A60D14189F}"/>
              </a:ext>
            </a:extLst>
          </p:cNvPr>
          <p:cNvSpPr txBox="1"/>
          <p:nvPr/>
        </p:nvSpPr>
        <p:spPr>
          <a:xfrm>
            <a:off x="3648075" y="2894231"/>
            <a:ext cx="3994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simple case of power flow problem and its BFS algorithm (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left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), which converges to the desired solution (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right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3727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32C8-ED21-0D97-4C89-322FD371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0004EFA3-A1E9-5783-7167-77DA928A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7" y="290172"/>
            <a:ext cx="11151238" cy="566928"/>
          </a:xfrm>
        </p:spPr>
        <p:txBody>
          <a:bodyPr>
            <a:noAutofit/>
          </a:bodyPr>
          <a:lstStyle/>
          <a:p>
            <a:r>
              <a:rPr lang="en-US" sz="3200" b="1" dirty="0"/>
              <a:t>CHZ3:</a:t>
            </a:r>
            <a:r>
              <a:rPr lang="en-US" sz="3200" dirty="0"/>
              <a:t> Self-proposed topic (1~2 students)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9B58E-0CD4-95BC-6655-0F7AACC7F60E}"/>
              </a:ext>
            </a:extLst>
          </p:cNvPr>
          <p:cNvSpPr txBox="1"/>
          <p:nvPr/>
        </p:nvSpPr>
        <p:spPr>
          <a:xfrm>
            <a:off x="1279338" y="2130874"/>
            <a:ext cx="99982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Any topic that applies mathematics to solve a practical engineering problem.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Preference for control and dynamical systems, stochastic processes, optimization, machine learning, game theory, and networked systems. 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Please email me: </a:t>
            </a:r>
            <a:r>
              <a:rPr lang="en-US" sz="2400" dirty="0">
                <a:hlinkClick r:id="rId3"/>
              </a:rPr>
              <a:t>chzhao@ie.cuhk.edu.hk</a:t>
            </a:r>
            <a:r>
              <a:rPr lang="en-US" sz="2400" dirty="0"/>
              <a:t> a half-page project proposal for discussion and approval of your topic. </a:t>
            </a:r>
            <a:endParaRPr lang="en-US" sz="1850" b="0" i="0" u="sng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40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5032</TotalTime>
  <Words>521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Theme</vt:lpstr>
      <vt:lpstr>Final-Year Projects 2026-27</vt:lpstr>
      <vt:lpstr>PowerPoint Presentation</vt:lpstr>
      <vt:lpstr>Motivation: more energy, less emission</vt:lpstr>
      <vt:lpstr>Trends in power systems </vt:lpstr>
      <vt:lpstr>Solar power: big potential, big risk</vt:lpstr>
      <vt:lpstr>CHZ1: Power network topology optimization (1~2 students)</vt:lpstr>
      <vt:lpstr>CHZ2: Improving AC power flow solution (1~2 students) </vt:lpstr>
      <vt:lpstr>CHZ3: Self-proposed topic (1~2 students)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Optimization and Intelligent Control  (SONIC) Laboratory</dc:title>
  <dc:creator>Changhong Zhao (IEG)</dc:creator>
  <cp:lastModifiedBy>Changhong Zhao (IEG)</cp:lastModifiedBy>
  <cp:revision>641</cp:revision>
  <dcterms:created xsi:type="dcterms:W3CDTF">2021-01-09T14:13:55Z</dcterms:created>
  <dcterms:modified xsi:type="dcterms:W3CDTF">2026-02-11T16:27:34Z</dcterms:modified>
</cp:coreProperties>
</file>